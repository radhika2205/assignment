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05" autoAdjust="0"/>
    <p:restoredTop sz="94660"/>
  </p:normalViewPr>
  <p:slideViewPr>
    <p:cSldViewPr snapToGrid="0">
      <p:cViewPr varScale="1">
        <p:scale>
          <a:sx n="88" d="100"/>
          <a:sy n="88" d="100"/>
        </p:scale>
        <p:origin x="28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658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59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75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28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25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689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25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59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27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312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9DA64-9ABD-4AF0-9139-05639A7DB10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634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8354" y="3027872"/>
            <a:ext cx="10550941" cy="815271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FFFF00"/>
                </a:solidFill>
                <a:latin typeface="Arial Black" panose="020B0A04020102020204" pitchFamily="34" charset="0"/>
              </a:rPr>
              <a:t>Importance of Probability in Machine Learning</a:t>
            </a:r>
            <a:endParaRPr lang="en-IN" sz="3600" b="1" dirty="0">
              <a:solidFill>
                <a:srgbClr val="FFFF00"/>
              </a:solidFill>
              <a:latin typeface="Arial Black" panose="020B0A0402010202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9547" y="6284853"/>
            <a:ext cx="3978166" cy="512762"/>
          </a:xfrm>
        </p:spPr>
        <p:txBody>
          <a:bodyPr>
            <a:normAutofit fontScale="77500" lnSpcReduction="20000"/>
          </a:bodyPr>
          <a:lstStyle/>
          <a:p>
            <a:r>
              <a:rPr lang="en-IN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Presented by: </a:t>
            </a:r>
            <a:r>
              <a:rPr lang="en-IN" dirty="0" err="1">
                <a:solidFill>
                  <a:srgbClr val="00B0F0"/>
                </a:solidFill>
                <a:latin typeface="Arial Black" panose="020B0A04020102020204" pitchFamily="34" charset="0"/>
              </a:rPr>
              <a:t>R</a:t>
            </a:r>
            <a:r>
              <a:rPr lang="en-IN" dirty="0" err="1" smtClean="0">
                <a:solidFill>
                  <a:srgbClr val="00B0F0"/>
                </a:solidFill>
                <a:latin typeface="Arial Black" panose="020B0A04020102020204" pitchFamily="34" charset="0"/>
              </a:rPr>
              <a:t>adhika</a:t>
            </a:r>
            <a:r>
              <a:rPr lang="en-IN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 </a:t>
            </a:r>
            <a:r>
              <a:rPr lang="en-IN" dirty="0">
                <a:solidFill>
                  <a:srgbClr val="00B0F0"/>
                </a:solidFill>
                <a:latin typeface="Arial Black" panose="020B0A04020102020204" pitchFamily="34" charset="0"/>
              </a:rPr>
              <a:t>P</a:t>
            </a:r>
            <a:r>
              <a:rPr lang="en-IN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atel </a:t>
            </a:r>
            <a:endParaRPr lang="en-IN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35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00062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>
                <a:solidFill>
                  <a:srgbClr val="FFFF00"/>
                </a:solidFill>
                <a:latin typeface="Arial Black" panose="020B0A04020102020204" pitchFamily="34" charset="0"/>
              </a:rPr>
              <a:t>Introduction to Probability</a:t>
            </a:r>
            <a:endParaRPr lang="en-IN" sz="3600" b="1" dirty="0">
              <a:solidFill>
                <a:srgbClr val="FFFF00"/>
              </a:solidFill>
              <a:latin typeface="Arial Black" panose="020B0A0402010202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Probability helps us measure </a:t>
            </a: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uncertainty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In machine learning, many problems involve </a:t>
            </a: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prediction under uncertainty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Example: Predicting if an email is </a:t>
            </a:r>
            <a:r>
              <a:rPr lang="en-US" i="1" dirty="0">
                <a:solidFill>
                  <a:schemeClr val="bg1"/>
                </a:solidFill>
                <a:latin typeface="Arial Black" panose="020B0A04020102020204" pitchFamily="34" charset="0"/>
              </a:rPr>
              <a:t>spam or not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 — always has some uncertainty.</a:t>
            </a:r>
          </a:p>
        </p:txBody>
      </p:sp>
    </p:spTree>
    <p:extLst>
      <p:ext uri="{BB962C8B-B14F-4D97-AF65-F5344CB8AC3E}">
        <p14:creationId xmlns:p14="http://schemas.microsoft.com/office/powerpoint/2010/main" val="385637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00062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b="1" dirty="0">
                <a:solidFill>
                  <a:srgbClr val="FFFF00"/>
                </a:solidFill>
                <a:latin typeface="Arial Black" panose="020B0A04020102020204" pitchFamily="34" charset="0"/>
              </a:rPr>
              <a:t>Role of Probability in ML</a:t>
            </a:r>
            <a:endParaRPr lang="en-IN" sz="3600" b="1" dirty="0">
              <a:solidFill>
                <a:srgbClr val="FFFF00"/>
              </a:solidFill>
              <a:latin typeface="Arial Black" panose="020B0A0402010202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bg1"/>
                </a:solidFill>
                <a:latin typeface="Arial Black" panose="020B0A04020102020204" pitchFamily="34" charset="0"/>
              </a:rPr>
              <a:t>ML models often rely on </a:t>
            </a:r>
            <a:r>
              <a:rPr lang="en-IN" b="1" dirty="0">
                <a:solidFill>
                  <a:schemeClr val="bg1"/>
                </a:solidFill>
                <a:latin typeface="Arial Black" panose="020B0A04020102020204" pitchFamily="34" charset="0"/>
              </a:rPr>
              <a:t>probabilistic thinking</a:t>
            </a:r>
            <a:r>
              <a:rPr lang="en-IN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  <a:p>
            <a:r>
              <a:rPr lang="en-IN" dirty="0">
                <a:solidFill>
                  <a:schemeClr val="bg1"/>
                </a:solidFill>
                <a:latin typeface="Arial Black" panose="020B0A04020102020204" pitchFamily="34" charset="0"/>
              </a:rPr>
              <a:t>Helps in:</a:t>
            </a:r>
          </a:p>
          <a:p>
            <a:pPr lvl="1"/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Estimating outcomes (classification, regression)</a:t>
            </a:r>
          </a:p>
          <a:p>
            <a:pPr lvl="1"/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Handling noisy data</a:t>
            </a:r>
          </a:p>
          <a:p>
            <a:pPr lvl="1"/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Making predictions with confidence levels</a:t>
            </a:r>
          </a:p>
          <a:p>
            <a:r>
              <a:rPr lang="en-IN" dirty="0">
                <a:solidFill>
                  <a:schemeClr val="bg1"/>
                </a:solidFill>
                <a:latin typeface="Arial Black" panose="020B0A04020102020204" pitchFamily="34" charset="0"/>
              </a:rPr>
              <a:t>Basis for </a:t>
            </a:r>
            <a:r>
              <a:rPr lang="en-IN" b="1" dirty="0">
                <a:solidFill>
                  <a:schemeClr val="bg1"/>
                </a:solidFill>
                <a:latin typeface="Arial Black" panose="020B0A04020102020204" pitchFamily="34" charset="0"/>
              </a:rPr>
              <a:t>Bayesian algorithms, Naive Bayes, and Hidden Markov Models</a:t>
            </a:r>
            <a:r>
              <a:rPr lang="en-IN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8882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5358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dirty="0">
                <a:solidFill>
                  <a:srgbClr val="FFFF00"/>
                </a:solidFill>
                <a:latin typeface="Arial Black" panose="020B0A04020102020204" pitchFamily="34" charset="0"/>
              </a:rPr>
              <a:t>Probabilistic Models</a:t>
            </a:r>
            <a:endParaRPr lang="en-US" sz="3600" b="1" dirty="0">
              <a:solidFill>
                <a:srgbClr val="FFFF00"/>
              </a:solidFill>
              <a:latin typeface="Arial Black" panose="020B0A0402010202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04800" y="1256188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52400" y="1524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" y="1682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62974" y="2130725"/>
            <a:ext cx="3856007" cy="1906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529088" y="1323260"/>
            <a:ext cx="1012453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Naive Bayes Classifier: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 Uses Bayes’ Theorem for text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Hidden Markov Models (HMM):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 Used in speech &amp; language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Bayesian Networks: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 Represent dependencies between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304800" y="3048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304800" y="320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444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49" y="61529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dirty="0">
                <a:solidFill>
                  <a:srgbClr val="FFFF00"/>
                </a:solidFill>
                <a:latin typeface="Arial Black" panose="020B0A04020102020204" pitchFamily="34" charset="0"/>
              </a:rPr>
              <a:t>Real-World Applications</a:t>
            </a:r>
            <a:endParaRPr lang="en-US" sz="3600" b="1" dirty="0">
              <a:solidFill>
                <a:srgbClr val="FFFF00"/>
              </a:solidFill>
              <a:latin typeface="Arial Black" panose="020B0A0402010202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26236" y="2135206"/>
            <a:ext cx="923797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Weather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Spam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Medical diagnosis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Fraud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Self-driving cars (decision under uncertainty)</a:t>
            </a:r>
          </a:p>
        </p:txBody>
      </p:sp>
    </p:spTree>
    <p:extLst>
      <p:ext uri="{BB962C8B-B14F-4D97-AF65-F5344CB8AC3E}">
        <p14:creationId xmlns:p14="http://schemas.microsoft.com/office/powerpoint/2010/main" val="385322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02" y="39963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dirty="0">
                <a:solidFill>
                  <a:srgbClr val="FFFF00"/>
                </a:solidFill>
                <a:latin typeface="Arial Black" panose="020B0A04020102020204" pitchFamily="34" charset="0"/>
              </a:rPr>
              <a:t>Conclusion</a:t>
            </a:r>
            <a:endParaRPr lang="en-IN" sz="3600" b="1" dirty="0">
              <a:solidFill>
                <a:srgbClr val="FFFF00"/>
              </a:solidFill>
              <a:latin typeface="Arial Black" panose="020B0A0402010202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89379" y="1787473"/>
            <a:ext cx="1036424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Probability is the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foundation of intelligent decision-making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 allows ML systems to reason under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uncertainty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Without probability, machine learning can’t handle real-world unpredictability.</a:t>
            </a:r>
          </a:p>
        </p:txBody>
      </p:sp>
    </p:spTree>
    <p:extLst>
      <p:ext uri="{BB962C8B-B14F-4D97-AF65-F5344CB8AC3E}">
        <p14:creationId xmlns:p14="http://schemas.microsoft.com/office/powerpoint/2010/main" val="1604387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171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Calibri</vt:lpstr>
      <vt:lpstr>Calibri bold</vt:lpstr>
      <vt:lpstr>Calibri Light</vt:lpstr>
      <vt:lpstr>Wingdings</vt:lpstr>
      <vt:lpstr>Office Theme</vt:lpstr>
      <vt:lpstr>Importance of Probability in Machine Learning</vt:lpstr>
      <vt:lpstr>Introduction to Probability</vt:lpstr>
      <vt:lpstr>Role of Probability in ML</vt:lpstr>
      <vt:lpstr>Probabilistic Models</vt:lpstr>
      <vt:lpstr>Real-World Applications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Normalization vs Denormalization in SQL (For Data Science)</dc:title>
  <dc:creator>Dell</dc:creator>
  <cp:lastModifiedBy>Microsoft account</cp:lastModifiedBy>
  <cp:revision>11</cp:revision>
  <dcterms:created xsi:type="dcterms:W3CDTF">2025-06-26T11:47:23Z</dcterms:created>
  <dcterms:modified xsi:type="dcterms:W3CDTF">2025-11-10T07:01:20Z</dcterms:modified>
</cp:coreProperties>
</file>